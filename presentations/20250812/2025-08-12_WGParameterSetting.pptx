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5" r:id="rId4"/>
    <p:sldId id="260" r:id="rId5"/>
    <p:sldId id="271" r:id="rId6"/>
    <p:sldId id="262" r:id="rId7"/>
    <p:sldId id="263" r:id="rId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  <a:srgbClr val="CC9900"/>
    <a:srgbClr val="FFFF00"/>
    <a:srgbClr val="CC6600"/>
    <a:srgbClr val="FF9933"/>
    <a:srgbClr val="9900CC"/>
    <a:srgbClr val="CC00FF"/>
    <a:srgbClr val="0066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980" autoAdjust="0"/>
  </p:normalViewPr>
  <p:slideViewPr>
    <p:cSldViewPr snapToGrid="0">
      <p:cViewPr varScale="1">
        <p:scale>
          <a:sx n="97" d="100"/>
          <a:sy n="97" d="100"/>
        </p:scale>
        <p:origin x="17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711DE-1B48-47C9-8C95-428E7BE9E06C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FFC2C-FDAB-4FC9-A152-F7D2B6D3A4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9669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FFC2C-FDAB-4FC9-A152-F7D2B6D3A42E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9710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792B-5F93-4EFF-E9C7-3FAB55939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68CEC-DD9F-321F-0BB0-6FED6331C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3E0C3-C2F0-0FEE-9A35-CBD3B8C6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3080B-3E05-0488-56B4-21A0F36B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AAA37-7766-0F0A-2B45-9758C7B9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8838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F6E9-E093-7011-6196-78073EAB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B945-5F22-D7E3-9CA1-588DBE130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9C2EA-70C1-5FAB-D811-D199CE80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BBE0B-C75E-07A6-0860-87618BEB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515B-11F9-740C-DA48-3F90EF0B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1509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42CC-A647-42FA-6C22-A6C5F2F51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8DF01-1CBB-FB52-7C3C-DCB006A14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BD285-034E-51D1-D13D-E08ECF41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5A926-FF3C-5700-F64E-EC6AE498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B8488-CA67-7121-8661-310854D2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0373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076D-CCA2-AB3C-25EF-73E74B0D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BA608-EBD4-8174-F220-F9DF6216E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F840C-C019-DAEA-C67A-AB73CC4B0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289FE-A5BE-7756-9C84-8AABD204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0A988-B3E3-AE7F-9A73-D3A20757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5AD6E-54C6-A472-E735-367EB83B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9743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6C3E-F61A-74B3-986D-EA0A8FDD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CC7E1-30F3-EED1-C0FD-65B3BDA32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48BEE-8EF4-1219-7492-31532C775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60E15-CEE8-98DF-1FD4-A0FE4308A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6188F-110A-299B-0F15-70444CBA0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160E9-35F0-DF42-7611-45DF4F60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B574B-FE0B-8577-7C11-34597163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A6EEF-7CA3-D658-A67B-AB571AC5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1855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80C8-8AB3-D0FF-567C-2BCF524F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5FB1C-2DCC-23C4-7EBC-7D0E9D4E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4F103-E357-6DDE-BAD5-3EC001FC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B1156-906F-F9E3-4041-B0D98422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418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D4577-A23C-8313-92F8-6B5F8145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C6437-9C96-4091-74EC-86F7BB5E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F5F5D-965F-3307-E369-D350DC1E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9834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D3EA-B133-9EBE-15CD-3B2A737A1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B8777-244B-687F-D47A-09F55F64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8B44F-4E8C-0AA7-9494-EC082008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F2942-71A0-7E75-F935-4F12BD84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CA756-2EB6-6986-2678-8AE8E863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B60B5-425F-450D-7D05-83791C65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9256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D293-A9CF-2755-82AE-F62F6E9B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08817-30FD-1C33-D377-263652A1F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5EAC3-D1F3-1EEC-BCB6-DCA7FE40F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8536-F00B-610C-23B2-C0FBAF6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A0F67-2B06-E271-0D7A-45AEC2A6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334E4-F413-9722-552B-9E5146E8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933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FEBA-DAAC-FBD1-9F79-20FF548C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DC815-0FCC-CC7B-A73D-0B25ADE0E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29B6E-8DC1-A559-A0F2-0362C505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07148-C895-F3B9-6BBC-AB63EF0D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B444F-47FD-CDEA-25DB-E58FEE2D2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7936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ECAFA8-3D13-7CFE-4FE7-A732DCCF6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BC00C-86BE-8479-5DAA-128756D9B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3AE38-ED6D-CA5C-8197-669FE765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3FE82-C1C9-E45D-C2E1-6CF35CCC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CB384-D473-9A0E-DD46-9CC721E4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2495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49BFA-842E-B5E0-2A3E-EEA8CB1C4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2AF24-6E68-DB28-B249-3027DFFD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578D-E447-A67F-FD24-84C9E262C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BF1BB-64B5-4FBF-BB5D-7A490F5561A1}" type="datetimeFigureOut">
              <a:rPr lang="en-CH" smtClean="0"/>
              <a:t>12.08.2025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4E3BE-3F05-AD7A-3FF4-29C2B77D7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88752-3D2B-FAD8-7FBF-7D876E263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C4334-2DF2-43E4-A099-61EE81822B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8258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uantum-Working-Groups/QAOA-Parameter-Sett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792D-56E6-0D8E-304C-F14A55B859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QAOA parameter setting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E72AF-0DBC-74F5-60D6-FCEEFCC8B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12.08.2025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1939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1C94-0D94-3DCE-C52A-DB307A44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Summary and Agenda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2352D-F251-C570-07B6-9D2356C03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66FF"/>
                </a:solidFill>
              </a:rPr>
              <a:t>Summary</a:t>
            </a:r>
          </a:p>
          <a:p>
            <a:pPr marL="0" indent="0">
              <a:buNone/>
            </a:pPr>
            <a:r>
              <a:rPr lang="en-US" sz="2400" dirty="0"/>
              <a:t>QAOA training pipeline has been extended. Ready to run first benchmarks.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66FF"/>
                </a:solidFill>
              </a:rPr>
              <a:t>Agenda</a:t>
            </a:r>
          </a:p>
          <a:p>
            <a:r>
              <a:rPr lang="en-US" sz="2400" dirty="0"/>
              <a:t>Daniel: general update and next steps</a:t>
            </a:r>
          </a:p>
          <a:p>
            <a:r>
              <a:rPr lang="en-US" sz="2400" dirty="0"/>
              <a:t>Alejandro: TN methods</a:t>
            </a:r>
          </a:p>
          <a:p>
            <a:r>
              <a:rPr lang="en-US" sz="2400" dirty="0"/>
              <a:t>Other topics?</a:t>
            </a:r>
          </a:p>
        </p:txBody>
      </p:sp>
    </p:spTree>
    <p:extLst>
      <p:ext uri="{BB962C8B-B14F-4D97-AF65-F5344CB8AC3E}">
        <p14:creationId xmlns:p14="http://schemas.microsoft.com/office/powerpoint/2010/main" val="392674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AC4B-EE68-E7A6-58F4-69D3AA79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2BF8-047A-4E29-A7F2-0AFE1491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91"/>
            <a:ext cx="10515600" cy="1325563"/>
          </a:xfrm>
        </p:spPr>
        <p:txBody>
          <a:bodyPr/>
          <a:lstStyle/>
          <a:p>
            <a:r>
              <a:rPr lang="en-US" dirty="0"/>
              <a:t>General update</a:t>
            </a:r>
            <a:endParaRPr lang="en-C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9EE3F9-FDE1-29AF-0104-CB256A0AF18B}"/>
              </a:ext>
            </a:extLst>
          </p:cNvPr>
          <p:cNvSpPr txBox="1">
            <a:spLocks/>
          </p:cNvSpPr>
          <p:nvPr/>
        </p:nvSpPr>
        <p:spPr>
          <a:xfrm>
            <a:off x="487020" y="1825625"/>
            <a:ext cx="1126825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Setup of the benchmarking</a:t>
            </a:r>
          </a:p>
          <a:p>
            <a:r>
              <a:rPr lang="en-US" sz="1800" dirty="0"/>
              <a:t>Resources for this project are available here</a:t>
            </a:r>
            <a:br>
              <a:rPr lang="en-US" sz="1800" dirty="0"/>
            </a:br>
            <a:r>
              <a:rPr lang="en-US" sz="1800" dirty="0">
                <a:hlinkClick r:id="rId2"/>
              </a:rPr>
              <a:t>Quantum-Working-Groups/QAOA-Parameter-Setting</a:t>
            </a:r>
            <a:endParaRPr lang="en-US" sz="1800" dirty="0"/>
          </a:p>
          <a:p>
            <a:pPr lvl="1"/>
            <a:r>
              <a:rPr lang="en-US" sz="1400" dirty="0"/>
              <a:t>Problem instances to benchmark on </a:t>
            </a:r>
            <a:r>
              <a:rPr lang="en-US" sz="1400" b="1" dirty="0">
                <a:solidFill>
                  <a:schemeClr val="accent6"/>
                </a:solidFill>
              </a:rPr>
              <a:t>DONE</a:t>
            </a:r>
          </a:p>
          <a:p>
            <a:pPr lvl="1"/>
            <a:r>
              <a:rPr lang="en-US" sz="1400" dirty="0"/>
              <a:t>Method definition for the QAOA training pipeline </a:t>
            </a:r>
            <a:r>
              <a:rPr lang="en-US" sz="1400" b="1" dirty="0">
                <a:solidFill>
                  <a:schemeClr val="accent2"/>
                </a:solidFill>
              </a:rPr>
              <a:t>IN PROGRESS</a:t>
            </a:r>
            <a:r>
              <a:rPr lang="en-US" sz="1400" dirty="0"/>
              <a:t> (PR opened)</a:t>
            </a:r>
          </a:p>
          <a:p>
            <a:pPr lvl="1"/>
            <a:r>
              <a:rPr lang="en-US" sz="1400" dirty="0" err="1"/>
              <a:t>Transpilation</a:t>
            </a:r>
            <a:r>
              <a:rPr lang="en-US" sz="1400" dirty="0"/>
              <a:t> for hardware execution </a:t>
            </a:r>
            <a:r>
              <a:rPr lang="en-US" sz="1400" b="1" dirty="0">
                <a:solidFill>
                  <a:schemeClr val="accent2"/>
                </a:solidFill>
              </a:rPr>
              <a:t>IN PROGRESS </a:t>
            </a:r>
            <a:r>
              <a:rPr lang="en-US" sz="1400" dirty="0"/>
              <a:t>(PR to follow soon opened)</a:t>
            </a:r>
            <a:endParaRPr lang="en-US" sz="1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Training pipeline</a:t>
            </a:r>
          </a:p>
          <a:p>
            <a:r>
              <a:rPr lang="en-US" sz="1800" dirty="0"/>
              <a:t>Now integrated with the Pauli propagation work of EPFL.</a:t>
            </a:r>
          </a:p>
          <a:p>
            <a:r>
              <a:rPr lang="en-US" sz="1800" dirty="0"/>
              <a:t>Recursive Transitions States trainer.</a:t>
            </a:r>
          </a:p>
          <a:p>
            <a:r>
              <a:rPr lang="en-US" sz="1800" dirty="0"/>
              <a:t>Pre-processing: SAT mapping which is relevant for TN evaluators.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Overleaf</a:t>
            </a:r>
          </a:p>
          <a:p>
            <a:r>
              <a:rPr lang="en-US" sz="1800" dirty="0"/>
              <a:t>Currently not much, focus was on code.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150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C724-687F-5081-9B1A-8013AE52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54C4-E11A-D758-C15D-A1EA94A4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32"/>
            <a:ext cx="10515600" cy="1325563"/>
          </a:xfrm>
        </p:spPr>
        <p:txBody>
          <a:bodyPr/>
          <a:lstStyle/>
          <a:p>
            <a:r>
              <a:rPr lang="en-US" dirty="0"/>
              <a:t>Next steps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1C47-ECF1-811B-C527-C84BEC811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26" y="1215647"/>
            <a:ext cx="10933160" cy="5410440"/>
          </a:xfrm>
        </p:spPr>
        <p:txBody>
          <a:bodyPr>
            <a:normAutofit/>
          </a:bodyPr>
          <a:lstStyle/>
          <a:p>
            <a:r>
              <a:rPr lang="en-US" sz="2400" dirty="0"/>
              <a:t>Overview of QAOA parameter setting methods in main text: </a:t>
            </a:r>
            <a:r>
              <a:rPr lang="en-US" sz="2400" dirty="0">
                <a:solidFill>
                  <a:srgbClr val="FFC000"/>
                </a:solidFill>
              </a:rPr>
              <a:t>ONGOING – </a:t>
            </a:r>
            <a:r>
              <a:rPr lang="en-US" sz="2400" dirty="0">
                <a:solidFill>
                  <a:srgbClr val="92D050"/>
                </a:solidFill>
              </a:rPr>
              <a:t>~DONE</a:t>
            </a:r>
          </a:p>
          <a:p>
            <a:r>
              <a:rPr lang="en-US" sz="2400" dirty="0"/>
              <a:t>Taxonomy: sort the methods in the class </a:t>
            </a:r>
            <a:r>
              <a:rPr lang="en-US" sz="2400" dirty="0">
                <a:solidFill>
                  <a:srgbClr val="FFC000"/>
                </a:solidFill>
              </a:rPr>
              <a:t>ONGOING – </a:t>
            </a:r>
            <a:r>
              <a:rPr lang="en-US" sz="2400" dirty="0">
                <a:solidFill>
                  <a:srgbClr val="92D050"/>
                </a:solidFill>
              </a:rPr>
              <a:t>~DONE</a:t>
            </a:r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/>
              <a:t>Benchmarking planning</a:t>
            </a:r>
          </a:p>
          <a:p>
            <a:pPr lvl="1"/>
            <a:r>
              <a:rPr lang="en-US" sz="2000" dirty="0"/>
              <a:t>Define problem instances to test on </a:t>
            </a:r>
            <a:r>
              <a:rPr lang="en-US" sz="2000" dirty="0">
                <a:solidFill>
                  <a:schemeClr val="accent6"/>
                </a:solidFill>
              </a:rPr>
              <a:t>~DONE</a:t>
            </a:r>
          </a:p>
          <a:p>
            <a:pPr lvl="1"/>
            <a:r>
              <a:rPr lang="en-US" sz="2000" dirty="0"/>
              <a:t>Plan for what hardware can execute </a:t>
            </a:r>
            <a:r>
              <a:rPr lang="en-US" sz="2000" dirty="0">
                <a:solidFill>
                  <a:schemeClr val="accent2"/>
                </a:solidFill>
              </a:rPr>
              <a:t>ONGOING</a:t>
            </a:r>
            <a:endParaRPr lang="en-US" sz="2000" dirty="0"/>
          </a:p>
          <a:p>
            <a:pPr lvl="2"/>
            <a:r>
              <a:rPr lang="en-US" sz="1600" dirty="0" err="1"/>
              <a:t>Transpilation</a:t>
            </a:r>
            <a:r>
              <a:rPr lang="en-US" sz="1600" dirty="0"/>
              <a:t> for the problem instances </a:t>
            </a:r>
            <a:r>
              <a:rPr lang="en-US" sz="1600" dirty="0">
                <a:solidFill>
                  <a:schemeClr val="accent2"/>
                </a:solidFill>
              </a:rPr>
              <a:t>ONGOING</a:t>
            </a:r>
            <a:endParaRPr lang="en-US" sz="1600" dirty="0"/>
          </a:p>
          <a:p>
            <a:pPr lvl="2"/>
            <a:r>
              <a:rPr lang="en-US" sz="1600" dirty="0"/>
              <a:t>Map which cases to execute (probably around 5k gates) </a:t>
            </a:r>
            <a:r>
              <a:rPr lang="en-US" sz="1600" dirty="0">
                <a:solidFill>
                  <a:schemeClr val="accent2"/>
                </a:solidFill>
              </a:rPr>
              <a:t>ONGOING</a:t>
            </a:r>
            <a:endParaRPr lang="en-US" sz="1600" dirty="0">
              <a:solidFill>
                <a:srgbClr val="FF0000"/>
              </a:solidFill>
            </a:endParaRPr>
          </a:p>
          <a:p>
            <a:pPr lvl="1"/>
            <a:r>
              <a:rPr lang="en-US" sz="2000" dirty="0"/>
              <a:t>Defne methods to test in the training pipeline: </a:t>
            </a:r>
            <a:r>
              <a:rPr lang="en-US" sz="2000" dirty="0">
                <a:solidFill>
                  <a:schemeClr val="accent2"/>
                </a:solidFill>
              </a:rPr>
              <a:t>ONGOING</a:t>
            </a:r>
            <a:endParaRPr lang="en-US" sz="1600" dirty="0">
              <a:solidFill>
                <a:srgbClr val="C00000"/>
              </a:solidFill>
            </a:endParaRPr>
          </a:p>
          <a:p>
            <a:r>
              <a:rPr lang="en-US" sz="2400" dirty="0"/>
              <a:t>Define how to compare the benchmarking results: </a:t>
            </a:r>
            <a:r>
              <a:rPr lang="en-US" sz="2400" dirty="0">
                <a:solidFill>
                  <a:schemeClr val="accent2"/>
                </a:solidFill>
              </a:rPr>
              <a:t>ONGOING</a:t>
            </a:r>
          </a:p>
          <a:p>
            <a:r>
              <a:rPr lang="en-US" sz="2400" dirty="0"/>
              <a:t>Integrate Pauli propagation and test </a:t>
            </a:r>
            <a:r>
              <a:rPr lang="en-US" sz="2400" dirty="0">
                <a:solidFill>
                  <a:srgbClr val="00B050"/>
                </a:solidFill>
              </a:rPr>
              <a:t>DONE</a:t>
            </a: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D8A6AAF8-590C-9997-3C01-3C8390391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865" y="4823208"/>
            <a:ext cx="4463866" cy="171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8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6A86-3105-E4FD-FFC5-A09076E0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7C81-09CE-5131-1D05-2D92AB96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91"/>
            <a:ext cx="10515600" cy="1325563"/>
          </a:xfrm>
        </p:spPr>
        <p:txBody>
          <a:bodyPr/>
          <a:lstStyle/>
          <a:p>
            <a:r>
              <a:rPr lang="en-US" dirty="0"/>
              <a:t>Notes</a:t>
            </a:r>
            <a:endParaRPr lang="en-C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5E0335-3841-3BED-4FD3-B959CE67DF50}"/>
              </a:ext>
            </a:extLst>
          </p:cNvPr>
          <p:cNvSpPr txBox="1">
            <a:spLocks/>
          </p:cNvSpPr>
          <p:nvPr/>
        </p:nvSpPr>
        <p:spPr>
          <a:xfrm>
            <a:off x="487020" y="1825625"/>
            <a:ext cx="112682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Note</a:t>
            </a:r>
          </a:p>
          <a:p>
            <a:endParaRPr lang="en-US" sz="2000" dirty="0"/>
          </a:p>
          <a:p>
            <a:pPr marL="0" indent="0">
              <a:buNone/>
            </a:pPr>
            <a:endParaRPr lang="en-CH" sz="2000" dirty="0"/>
          </a:p>
        </p:txBody>
      </p:sp>
    </p:spTree>
    <p:extLst>
      <p:ext uri="{BB962C8B-B14F-4D97-AF65-F5344CB8AC3E}">
        <p14:creationId xmlns:p14="http://schemas.microsoft.com/office/powerpoint/2010/main" val="2471415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BEE5-24D1-B7A5-0C02-43DBBEE3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04DE-0A81-CDA5-CAD1-90B71C58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91"/>
            <a:ext cx="10515600" cy="1325563"/>
          </a:xfrm>
        </p:spPr>
        <p:txBody>
          <a:bodyPr/>
          <a:lstStyle/>
          <a:p>
            <a:r>
              <a:rPr lang="en-US" dirty="0"/>
              <a:t>Next call</a:t>
            </a:r>
            <a:endParaRPr lang="en-C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5C6824-B5F6-000E-945A-5315D6B97D74}"/>
              </a:ext>
            </a:extLst>
          </p:cNvPr>
          <p:cNvSpPr txBox="1">
            <a:spLocks/>
          </p:cNvSpPr>
          <p:nvPr/>
        </p:nvSpPr>
        <p:spPr>
          <a:xfrm>
            <a:off x="487020" y="1825625"/>
            <a:ext cx="614569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 three weeks from now: Tuesday 2</a:t>
            </a:r>
            <a:r>
              <a:rPr lang="en-US" sz="2000" baseline="30000" dirty="0"/>
              <a:t>nd</a:t>
            </a:r>
            <a:r>
              <a:rPr lang="en-US" sz="2000" dirty="0"/>
              <a:t> September</a:t>
            </a:r>
          </a:p>
          <a:p>
            <a:pPr lvl="1"/>
            <a:r>
              <a:rPr lang="en-US" sz="1600" dirty="0"/>
              <a:t>Maybe an update on benchmarking, TBD</a:t>
            </a:r>
          </a:p>
          <a:p>
            <a:endParaRPr lang="en-US" sz="2000" dirty="0"/>
          </a:p>
          <a:p>
            <a:pPr marL="0" indent="0">
              <a:buNone/>
            </a:pPr>
            <a:endParaRPr lang="en-CH" sz="2000" dirty="0"/>
          </a:p>
        </p:txBody>
      </p:sp>
    </p:spTree>
    <p:extLst>
      <p:ext uri="{BB962C8B-B14F-4D97-AF65-F5344CB8AC3E}">
        <p14:creationId xmlns:p14="http://schemas.microsoft.com/office/powerpoint/2010/main" val="276570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E68B-3826-D049-FC62-8B26774FC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12.08.2025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CBAB-7652-D17D-10A4-A01859CCD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053107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21150</TotalTime>
  <Words>236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QAOA parameter setting</vt:lpstr>
      <vt:lpstr>Summary and Agenda</vt:lpstr>
      <vt:lpstr>General update</vt:lpstr>
      <vt:lpstr>Next steps</vt:lpstr>
      <vt:lpstr>Notes</vt:lpstr>
      <vt:lpstr>Next call</vt:lpstr>
      <vt:lpstr>Discussion of 12.08.2025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Egger</dc:creator>
  <cp:lastModifiedBy>Daniel Egger</cp:lastModifiedBy>
  <cp:revision>36</cp:revision>
  <dcterms:created xsi:type="dcterms:W3CDTF">2025-04-30T07:27:41Z</dcterms:created>
  <dcterms:modified xsi:type="dcterms:W3CDTF">2025-08-12T15:17:38Z</dcterms:modified>
</cp:coreProperties>
</file>